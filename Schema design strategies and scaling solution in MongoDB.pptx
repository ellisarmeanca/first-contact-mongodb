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>
        <p:scale>
          <a:sx n="75" d="100"/>
          <a:sy n="75" d="100"/>
        </p:scale>
        <p:origin x="974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713A8-DC44-4C0D-A32C-AB7AD5F9C4CC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3A36C-AF6D-4D10-A01D-03C044EF54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43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3A36C-AF6D-4D10-A01D-03C044EF54B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51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3A36C-AF6D-4D10-A01D-03C044EF54B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96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5CA0-3CCA-05CE-D0F9-27F13E14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7EAD6-CB2C-9DE5-580A-E05F3BC69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F4495-5BC5-CCE4-BFE1-AD834614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0A26-4224-2C23-0815-730A331B5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5F9EB-1007-4792-35DF-12863EF7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69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B490-6C85-DD96-176A-FC7FAE16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A36B-8E44-ED31-2398-7B2855310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878AB-986A-6F98-5CBE-D2142C21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B62F9-D8CF-DF5D-323E-D7C3C9F0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723CB-4A95-6435-966C-D56D9927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05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B382-C79C-A124-F63F-B8536C82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94435-76FE-375F-0DBE-AAA521ED6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B0BE-8C19-628B-D000-7FF5165A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FFA6-73EA-FE09-11F5-EE2D38735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E5C96-C7E0-79E7-7FF4-56F7F9E9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38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C7100-BBF0-A2BF-6468-4806AE32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AE3F-1E9D-17A0-8366-F8BA53429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788C5-9614-ACCB-D291-C6EC47710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17CFC-45D1-D945-F44D-E8E0861B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01FDC-C19B-1A01-6689-3E1C4EA6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19084-C401-7053-60D7-6A7568E3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14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478B-2FC1-078B-586E-E1350ABB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5BD0D-FE53-FEEE-FB3C-EADCA5B2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DF20A-50FB-C2BF-3804-6E659BC3E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A4C27-73AB-17A8-70EE-3B28830D9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6970E-74F3-5012-62D2-88DA481DF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A984D-289C-0B37-2308-0C0E3D2C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CBE68-A31A-2769-0DF3-37BF5AE3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AC0D7-9D2C-8110-1961-0B9AF5AC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6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1728-321C-8072-C4D0-3BF583B4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D7DED-EAAE-A347-D4B9-D9D1A7D4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2F34F-F9F2-C942-50CD-D3B36F94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4C757-4827-3EBC-C7CD-A4E78EA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A68AC-3CEB-9E6D-5D0E-94258C8DF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18248-D7CB-BC06-8B2F-AEB12428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720C7-B6BC-B414-F77D-599D72A16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5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18D3-3618-9F0D-F6CB-D023A1A3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A3FF-B11B-CD54-B549-D287FAE4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66338-4265-9447-F266-F5C42612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AAA5F-DAF3-C8FD-4F6A-15BB0A97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564E6-0E52-6597-5157-EF458210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79486-BC52-BF9D-0D1C-7DE17A00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2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2F87-9F3B-4982-487A-0D9E66570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7F496-2728-0991-53B9-571EBA46E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B12C4-BFDC-7117-7EA8-31B665CED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88044-8D90-FB91-5907-2523D47F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255BB-60A3-FBBD-B2C1-23D149DF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F6739-3401-2FCD-5624-3E94857B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83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5DF5-1FFF-3023-6672-C0EFC524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4BE08-E361-5523-C1DC-169BE0C46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3D01A-CB81-0F7A-0AF7-AD23347B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3E973-F838-8194-B8FB-AE03C14B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16C90-18FC-0DE0-4659-FE2F1F70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88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C6114-D685-D19F-A825-DFD16B6D6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FA176-27B5-BD4E-B749-20B0E224D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3B67A-AF45-7FA4-FD42-5A906CC2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D3E88-693C-24D5-1716-BE91BB0D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9A53-D14E-0458-8734-64811A02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73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BE11B7-27B5-A1B3-EF35-52D9A9EB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F3350-963D-A247-9DAE-8056C2A5A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091AE-38A9-76E5-25D5-E37E175F4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0EF01-4096-42ED-8471-51064D9F84B3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10250-BE8E-4569-CB14-A7738D94A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213C8-D533-9D07-9BE2-931FC7AB6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7FA2B-C5AD-45B5-AC1D-7FE6E01F1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14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HLVMZu_R6k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FJN7k1NpP0" TargetMode="External"/><Relationship Id="rId2" Type="http://schemas.openxmlformats.org/officeDocument/2006/relationships/hyperlink" Target="https://youtu.be/uHLVMZu_R6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96eSMxxUIoM" TargetMode="External"/><Relationship Id="rId2" Type="http://schemas.openxmlformats.org/officeDocument/2006/relationships/hyperlink" Target="https://youtu.be/uHLVMZu_R6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13F0-D396-F89D-EC85-94D9FBBB43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Schema design strategies and scaling solution in MongoDB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B8BBA-067A-173C-0214-FC2952FA3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Armeanca Elis-Daniel, grupa 342, anul 3</a:t>
            </a:r>
          </a:p>
        </p:txBody>
      </p:sp>
    </p:spTree>
    <p:extLst>
      <p:ext uri="{BB962C8B-B14F-4D97-AF65-F5344CB8AC3E}">
        <p14:creationId xmlns:p14="http://schemas.microsoft.com/office/powerpoint/2010/main" val="241322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183B-5719-ACD9-0583-E2684227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DOCUMENTA</a:t>
            </a:r>
            <a:r>
              <a:rPr lang="ro-RO"/>
              <a:t>Ț</a:t>
            </a:r>
            <a:r>
              <a:rPr lang="en-GB"/>
              <a:t>IE TEHNIC</a:t>
            </a:r>
            <a:r>
              <a:rPr lang="ro-RO"/>
              <a:t>Ă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99BC-BDCC-8516-C6AF-55DEE6EA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OS: Windows 10</a:t>
            </a:r>
          </a:p>
          <a:p>
            <a:r>
              <a:rPr lang="en-GB"/>
              <a:t>Database: MongoDB</a:t>
            </a:r>
          </a:p>
          <a:p>
            <a:r>
              <a:rPr lang="en-GB"/>
              <a:t>Tools: MongoDB Compass, mongosh</a:t>
            </a:r>
          </a:p>
          <a:p>
            <a:r>
              <a:rPr lang="en-GB"/>
              <a:t>Containerization: Docker</a:t>
            </a:r>
          </a:p>
          <a:p>
            <a:r>
              <a:rPr lang="en-GB"/>
              <a:t>Programming: JavaScript (Mongoose)</a:t>
            </a:r>
          </a:p>
          <a:p>
            <a:r>
              <a:rPr lang="en-GB"/>
              <a:t>VM usage: none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13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0444-6EBB-B7AC-6AB9-D3E6A66AD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Modelarea datelor si organizarea colec</a:t>
            </a:r>
            <a:r>
              <a:rPr lang="ro-RO"/>
              <a:t>ț</a:t>
            </a:r>
            <a:r>
              <a:rPr lang="en-GB"/>
              <a:t>iilor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6AAA3-288B-5E9C-E141-6EF435861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35" y="1690688"/>
            <a:ext cx="448122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CF8195-A432-25A2-7550-9344159E528C}"/>
              </a:ext>
            </a:extLst>
          </p:cNvPr>
          <p:cNvSpPr txBox="1"/>
          <p:nvPr/>
        </p:nvSpPr>
        <p:spPr>
          <a:xfrm>
            <a:off x="5120640" y="1562100"/>
            <a:ext cx="671322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/>
              <a:t>Entități:</a:t>
            </a:r>
          </a:p>
          <a:p>
            <a:r>
              <a:rPr lang="en-GB" sz="900"/>
              <a:t>Grupuri</a:t>
            </a:r>
          </a:p>
          <a:p>
            <a:r>
              <a:rPr lang="en-GB" sz="900"/>
              <a:t>Evenimente</a:t>
            </a:r>
          </a:p>
          <a:p>
            <a:r>
              <a:rPr lang="en-GB" sz="900"/>
              <a:t>Locații</a:t>
            </a:r>
          </a:p>
          <a:p>
            <a:r>
              <a:rPr lang="en-GB" sz="900"/>
              <a:t>Participanți</a:t>
            </a:r>
          </a:p>
          <a:p>
            <a:r>
              <a:rPr lang="en-GB" sz="900"/>
              <a:t>Vorbitori</a:t>
            </a:r>
          </a:p>
          <a:p>
            <a:r>
              <a:rPr lang="en-GB" sz="900"/>
              <a:t>Discursuri</a:t>
            </a:r>
          </a:p>
          <a:p>
            <a:r>
              <a:rPr lang="en-GB" sz="900"/>
              <a:t>Recenzii</a:t>
            </a:r>
          </a:p>
          <a:p>
            <a:r>
              <a:rPr lang="en-GB" sz="900"/>
              <a:t>Cazări</a:t>
            </a:r>
          </a:p>
          <a:p>
            <a:r>
              <a:rPr lang="en-GB" sz="900"/>
              <a:t>Sponsori</a:t>
            </a:r>
          </a:p>
          <a:p>
            <a:r>
              <a:rPr lang="en-GB" sz="900"/>
              <a:t>Facturi</a:t>
            </a:r>
          </a:p>
          <a:p>
            <a:r>
              <a:rPr lang="en-GB" sz="900"/>
              <a:t>Vorbitori_Discursuri_Evenimente (entitate de legătură)</a:t>
            </a:r>
          </a:p>
          <a:p>
            <a:r>
              <a:rPr lang="en-GB" sz="900"/>
              <a:t>Evenimente_Sponsori (entitate de legătură)</a:t>
            </a:r>
          </a:p>
          <a:p>
            <a:endParaRPr lang="en-GB" sz="900"/>
          </a:p>
          <a:p>
            <a:r>
              <a:rPr lang="en-GB" sz="900" b="1"/>
              <a:t>Relații:</a:t>
            </a:r>
          </a:p>
          <a:p>
            <a:r>
              <a:rPr lang="en-GB" sz="900"/>
              <a:t>Grupuri </a:t>
            </a:r>
            <a:r>
              <a:rPr lang="en-GB" sz="900" b="1"/>
              <a:t>1 → N</a:t>
            </a:r>
            <a:r>
              <a:rPr lang="en-GB" sz="900"/>
              <a:t> Evenimente</a:t>
            </a:r>
          </a:p>
          <a:p>
            <a:r>
              <a:rPr lang="en-GB" sz="900"/>
              <a:t>Evenimente </a:t>
            </a:r>
            <a:r>
              <a:rPr lang="en-GB" sz="900" b="1"/>
              <a:t>N → 1</a:t>
            </a:r>
            <a:r>
              <a:rPr lang="en-GB" sz="900"/>
              <a:t> Locații</a:t>
            </a:r>
          </a:p>
          <a:p>
            <a:r>
              <a:rPr lang="en-GB" sz="900"/>
              <a:t>Evenimente </a:t>
            </a:r>
            <a:r>
              <a:rPr lang="en-GB" sz="900" b="1"/>
              <a:t>1 → N</a:t>
            </a:r>
            <a:r>
              <a:rPr lang="en-GB" sz="900"/>
              <a:t> Participanți</a:t>
            </a:r>
          </a:p>
          <a:p>
            <a:r>
              <a:rPr lang="en-GB" sz="900"/>
              <a:t>Evenimente </a:t>
            </a:r>
            <a:r>
              <a:rPr lang="en-GB" sz="900" b="1"/>
              <a:t>1 → N</a:t>
            </a:r>
            <a:r>
              <a:rPr lang="en-GB" sz="900"/>
              <a:t> Discursuri</a:t>
            </a:r>
          </a:p>
          <a:p>
            <a:r>
              <a:rPr lang="en-GB" sz="900"/>
              <a:t>Vorbitori </a:t>
            </a:r>
            <a:r>
              <a:rPr lang="en-GB" sz="900" b="1"/>
              <a:t>N → N</a:t>
            </a:r>
            <a:r>
              <a:rPr lang="en-GB" sz="900"/>
              <a:t> Discursuri (prin Vorbitori_Discursuri_Evenimente)</a:t>
            </a:r>
          </a:p>
          <a:p>
            <a:r>
              <a:rPr lang="en-GB" sz="900"/>
              <a:t>Vorbitori </a:t>
            </a:r>
            <a:r>
              <a:rPr lang="en-GB" sz="900" b="1"/>
              <a:t>N → N</a:t>
            </a:r>
            <a:r>
              <a:rPr lang="en-GB" sz="900"/>
              <a:t> Evenimente (prin Vorbitori_Discursuri_Evenimente)</a:t>
            </a:r>
          </a:p>
          <a:p>
            <a:r>
              <a:rPr lang="en-GB" sz="900"/>
              <a:t>Participanți </a:t>
            </a:r>
            <a:r>
              <a:rPr lang="en-GB" sz="900" b="1"/>
              <a:t>1 → N</a:t>
            </a:r>
            <a:r>
              <a:rPr lang="en-GB" sz="900"/>
              <a:t> Recenzii</a:t>
            </a:r>
          </a:p>
          <a:p>
            <a:r>
              <a:rPr lang="en-GB" sz="900"/>
              <a:t>Discursuri </a:t>
            </a:r>
            <a:r>
              <a:rPr lang="en-GB" sz="900" b="1"/>
              <a:t>1 → N</a:t>
            </a:r>
            <a:r>
              <a:rPr lang="en-GB" sz="900"/>
              <a:t> Recenzii</a:t>
            </a:r>
          </a:p>
          <a:p>
            <a:r>
              <a:rPr lang="en-GB" sz="900"/>
              <a:t>Vorbitori </a:t>
            </a:r>
            <a:r>
              <a:rPr lang="en-GB" sz="900" b="1"/>
              <a:t>1 → N</a:t>
            </a:r>
            <a:r>
              <a:rPr lang="en-GB" sz="900"/>
              <a:t> Recenzii</a:t>
            </a:r>
          </a:p>
          <a:p>
            <a:r>
              <a:rPr lang="en-GB" sz="900"/>
              <a:t>Evenimente </a:t>
            </a:r>
            <a:r>
              <a:rPr lang="en-GB" sz="900" b="1"/>
              <a:t>1 → 1</a:t>
            </a:r>
            <a:r>
              <a:rPr lang="en-GB" sz="900"/>
              <a:t> Cazări</a:t>
            </a:r>
          </a:p>
          <a:p>
            <a:r>
              <a:rPr lang="en-GB" sz="900"/>
              <a:t>Evenimente </a:t>
            </a:r>
            <a:r>
              <a:rPr lang="en-GB" sz="900" b="1"/>
              <a:t>1 → N</a:t>
            </a:r>
            <a:r>
              <a:rPr lang="en-GB" sz="900"/>
              <a:t> Facturi</a:t>
            </a:r>
          </a:p>
          <a:p>
            <a:r>
              <a:rPr lang="en-GB" sz="900"/>
              <a:t>Evenimente </a:t>
            </a:r>
            <a:r>
              <a:rPr lang="en-GB" sz="900" b="1"/>
              <a:t>N → N</a:t>
            </a:r>
            <a:r>
              <a:rPr lang="en-GB" sz="900"/>
              <a:t> Sponsori (prin Evenimente_Sponsori)</a:t>
            </a:r>
          </a:p>
          <a:p>
            <a:endParaRPr lang="en-GB" sz="900"/>
          </a:p>
          <a:p>
            <a:r>
              <a:rPr lang="en-GB" sz="900"/>
              <a:t>Pe baza acestui model conceptual și a relațiilor identificate, în etapele următoare au fost analizate și implementate diferite strategii de modelare a datelor în MongoDB, folosind embedding și referencing.</a:t>
            </a:r>
          </a:p>
          <a:p>
            <a:endParaRPr lang="en-GB" sz="900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480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2932-52DE-2D76-C979-3BBA6540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Embedding vs Referencing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110E-BB10-CE4F-4453-42095FDE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98910" cy="478977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sz="3700" b="1"/>
              <a:t>Model 1 – Referencing</a:t>
            </a:r>
          </a:p>
          <a:p>
            <a:r>
              <a:rPr lang="en-GB" sz="3700" b="1"/>
              <a:t>Avantaje:</a:t>
            </a:r>
            <a:endParaRPr lang="en-GB" sz="3700"/>
          </a:p>
          <a:p>
            <a:r>
              <a:rPr lang="en-GB" sz="3700"/>
              <a:t>structură flexibilă și scalabilă</a:t>
            </a:r>
          </a:p>
          <a:p>
            <a:r>
              <a:rPr lang="en-GB" sz="3700"/>
              <a:t>documente de dimensiuni reduse</a:t>
            </a:r>
          </a:p>
          <a:p>
            <a:r>
              <a:rPr lang="en-GB" sz="3700"/>
              <a:t>actualizări independente ale entităților</a:t>
            </a:r>
          </a:p>
          <a:p>
            <a:r>
              <a:rPr lang="en-GB" sz="3700"/>
              <a:t>potrivit pentru relații complexe și interogări bazate pe agregări</a:t>
            </a:r>
          </a:p>
          <a:p>
            <a:r>
              <a:rPr lang="en-GB" sz="3700" b="1"/>
              <a:t>Dezavantaje:</a:t>
            </a:r>
            <a:endParaRPr lang="en-GB" sz="3700"/>
          </a:p>
          <a:p>
            <a:r>
              <a:rPr lang="en-GB" sz="3700"/>
              <a:t>necesită mai multe interogări pentru obținerea tuturor datelor</a:t>
            </a:r>
          </a:p>
          <a:p>
            <a:r>
              <a:rPr lang="en-GB" sz="3700"/>
              <a:t>pot fi necesare agregări ($lookup, $group) pentru corelarea informațiilor</a:t>
            </a:r>
          </a:p>
          <a:p>
            <a:pPr marL="0" indent="0">
              <a:buNone/>
            </a:pPr>
            <a:r>
              <a:rPr lang="en-GB" sz="3700" b="1"/>
              <a:t>Model 2 – Embedding</a:t>
            </a:r>
          </a:p>
          <a:p>
            <a:r>
              <a:rPr lang="en-GB" sz="3700" b="1"/>
              <a:t>Avantaje:</a:t>
            </a:r>
            <a:endParaRPr lang="en-GB" sz="3700"/>
          </a:p>
          <a:p>
            <a:r>
              <a:rPr lang="en-GB" sz="3700"/>
              <a:t>acces rapid la toate informațiile relevante ale unui eveniment</a:t>
            </a:r>
          </a:p>
          <a:p>
            <a:r>
              <a:rPr lang="en-GB" sz="3700"/>
              <a:t>număr redus de interogări</a:t>
            </a:r>
          </a:p>
          <a:p>
            <a:r>
              <a:rPr lang="en-GB" sz="3700"/>
              <a:t>potrivit pentru operații de tip </a:t>
            </a:r>
            <a:r>
              <a:rPr lang="en-GB" sz="3700" b="1"/>
              <a:t>read-heavy</a:t>
            </a:r>
            <a:endParaRPr lang="en-GB" sz="3700"/>
          </a:p>
          <a:p>
            <a:r>
              <a:rPr lang="en-GB" sz="3700" b="1"/>
              <a:t>Dezavantaje:</a:t>
            </a:r>
            <a:endParaRPr lang="en-GB" sz="3700"/>
          </a:p>
          <a:p>
            <a:r>
              <a:rPr lang="en-GB" sz="3700"/>
              <a:t>documente de dimensiuni mai mari</a:t>
            </a:r>
          </a:p>
          <a:p>
            <a:r>
              <a:rPr lang="en-GB" sz="3700"/>
              <a:t>redundanță de date</a:t>
            </a:r>
          </a:p>
          <a:p>
            <a:r>
              <a:rPr lang="en-GB" sz="3700"/>
              <a:t>actualizări mai costisitoare în cazul modificărilor frecvente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47417-F214-1D6F-59C1-E7756048F0B3}"/>
              </a:ext>
            </a:extLst>
          </p:cNvPr>
          <p:cNvSpPr txBox="1"/>
          <p:nvPr/>
        </p:nvSpPr>
        <p:spPr>
          <a:xfrm>
            <a:off x="5784979" y="1399591"/>
            <a:ext cx="5962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Modelul principal utilizat în proiect este </a:t>
            </a:r>
            <a:r>
              <a:rPr lang="en-GB" b="1">
                <a:solidFill>
                  <a:schemeClr val="accent1"/>
                </a:solidFill>
              </a:rPr>
              <a:t>cel bazat pe referencing</a:t>
            </a:r>
            <a:r>
              <a:rPr lang="en-GB">
                <a:solidFill>
                  <a:schemeClr val="accent1"/>
                </a:solidFill>
              </a:rPr>
              <a:t>, deoarece entitățile sunt independente, se modifică separat și permit o scalabilitate mai bună. Modelul </a:t>
            </a:r>
            <a:r>
              <a:rPr lang="en-GB" b="1">
                <a:solidFill>
                  <a:schemeClr val="accent1"/>
                </a:solidFill>
              </a:rPr>
              <a:t>embedded a fost implementat complementar</a:t>
            </a:r>
            <a:r>
              <a:rPr lang="en-GB">
                <a:solidFill>
                  <a:schemeClr val="accent1"/>
                </a:solidFill>
              </a:rPr>
              <a:t>, ca mecanism de </a:t>
            </a:r>
            <a:r>
              <a:rPr lang="en-GB" b="1">
                <a:solidFill>
                  <a:schemeClr val="accent1"/>
                </a:solidFill>
              </a:rPr>
              <a:t>denormalizare și comparație</a:t>
            </a:r>
            <a:r>
              <a:rPr lang="en-GB">
                <a:solidFill>
                  <a:schemeClr val="accent1"/>
                </a:solidFill>
              </a:rPr>
              <a:t>, pentru a evidenția trade-off-urile dintre </a:t>
            </a:r>
            <a:r>
              <a:rPr lang="en-GB" b="1">
                <a:solidFill>
                  <a:schemeClr val="accent1"/>
                </a:solidFill>
              </a:rPr>
              <a:t>flexibilitate, consistență și performanță</a:t>
            </a:r>
            <a:r>
              <a:rPr lang="en-GB">
                <a:solidFill>
                  <a:schemeClr val="accent1"/>
                </a:solidFill>
              </a:rPr>
              <a:t> în MongoDB.</a:t>
            </a:r>
          </a:p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AB527F-916F-3F44-A02D-3541D4151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592" y="3345025"/>
            <a:ext cx="334404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9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6D2F-90A9-24C4-F6B1-BFF13B9A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Implementare opera</a:t>
            </a:r>
            <a:r>
              <a:rPr lang="ro-RO"/>
              <a:t>ț</a:t>
            </a:r>
            <a:r>
              <a:rPr lang="en-GB"/>
              <a:t>ii 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AF71-9FB7-05AE-3B3E-5630584B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6290" cy="4351338"/>
          </a:xfrm>
        </p:spPr>
        <p:txBody>
          <a:bodyPr>
            <a:normAutofit lnSpcReduction="10000"/>
          </a:bodyPr>
          <a:lstStyle/>
          <a:p>
            <a:r>
              <a:rPr lang="en-GB" b="1"/>
              <a:t>Create</a:t>
            </a:r>
            <a:r>
              <a:rPr lang="en-GB"/>
              <a:t>: inserare documente noi in colectiile de baza si in colectia evenimente.</a:t>
            </a:r>
          </a:p>
          <a:p>
            <a:r>
              <a:rPr lang="en-GB" b="1"/>
              <a:t>Read</a:t>
            </a:r>
            <a:r>
              <a:rPr lang="en-GB"/>
              <a:t>: verificarea rezultatelor dupa inserare si dupa modificari prin interogari in Compass/mongosh (ex: find, countDocuments).</a:t>
            </a:r>
          </a:p>
          <a:p>
            <a:r>
              <a:rPr lang="en-GB" b="1"/>
              <a:t>Update</a:t>
            </a:r>
            <a:r>
              <a:rPr lang="en-GB"/>
              <a:t>: modificarea documentelor existente (ex: update nume eveniment / adaugare legaturi).</a:t>
            </a:r>
          </a:p>
          <a:p>
            <a:r>
              <a:rPr lang="en-GB" b="1"/>
              <a:t>Delete</a:t>
            </a:r>
            <a:r>
              <a:rPr lang="en-GB"/>
              <a:t>: stergerea documentelor dupa criterii (ex: dupa nume sau id).</a:t>
            </a: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02506-4AE0-F18A-7FF0-F3A8CFA4F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087" y="1690688"/>
            <a:ext cx="41196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8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77AC-ECA4-76E5-1B24-A7796E9E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Agregări   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B360-B1EE-4999-8C5A-3E2AE6F0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1384" cy="4351338"/>
          </a:xfrm>
        </p:spPr>
        <p:txBody>
          <a:bodyPr/>
          <a:lstStyle/>
          <a:p>
            <a:r>
              <a:rPr lang="en-GB"/>
              <a:t>Am implementat o interogare complexa folosind aggregation pipeline pentru a combina date din mai multe colectii. Pipeline-ul porneste din evenimente si foloseste $lookup pentru a aduce informatii despre grupul asociat fiecarui eveniment, apoi $unwind si $project pentru un rezultat final compact (nume eveniment + nume grup).</a:t>
            </a: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6D956-2125-8817-24C9-92D746294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584" y="1948559"/>
            <a:ext cx="5944430" cy="4296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41E7C-0746-9AD7-FF55-2DB3F7E28DE4}"/>
              </a:ext>
            </a:extLst>
          </p:cNvPr>
          <p:cNvSpPr txBox="1"/>
          <p:nvPr/>
        </p:nvSpPr>
        <p:spPr>
          <a:xfrm>
            <a:off x="8310466" y="41959"/>
            <a:ext cx="448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>
                <a:hlinkClick r:id="rId3" tooltip="Share link"/>
              </a:rPr>
              <a:t>* LINK VIDEO pentru ultimele 2 slide-uri: </a:t>
            </a:r>
            <a:r>
              <a:rPr lang="en-GB">
                <a:hlinkClick r:id="rId3" tooltip="Share link"/>
              </a:rPr>
              <a:t>https://youtu.be/uHLVMZu_R6k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18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E014-E2A2-71A2-9A41-CE73C0B3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B74AB-6AB6-77C9-7E1E-310B6CD7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4118" cy="408998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/>
              <a:t>Colecția </a:t>
            </a:r>
            <a:r>
              <a:rPr lang="en-GB" i="1"/>
              <a:t>recenzii </a:t>
            </a:r>
            <a:r>
              <a:rPr lang="en-GB"/>
              <a:t>conține aproximativ </a:t>
            </a:r>
            <a:r>
              <a:rPr lang="en-GB" b="1"/>
              <a:t>10.000 de documente</a:t>
            </a:r>
            <a:r>
              <a:rPr lang="en-GB"/>
              <a:t>. Scopul acestui experiment a fost să demonstrăm impactul </a:t>
            </a:r>
            <a:r>
              <a:rPr lang="en-GB" b="1"/>
              <a:t>indexării</a:t>
            </a:r>
            <a:r>
              <a:rPr lang="en-GB"/>
              <a:t> asupra performanței query-urilor în MongoDB.</a:t>
            </a:r>
          </a:p>
          <a:p>
            <a:pPr marL="0" indent="0">
              <a:buNone/>
            </a:pPr>
            <a:r>
              <a:rPr lang="en-GB"/>
              <a:t>A fost ales câmpul </a:t>
            </a:r>
            <a:r>
              <a:rPr lang="en-GB" i="1"/>
              <a:t>id_participant</a:t>
            </a:r>
            <a:r>
              <a:rPr lang="en-GB"/>
              <a:t>, deoarece este </a:t>
            </a:r>
            <a:r>
              <a:rPr lang="en-GB" b="1"/>
              <a:t>selectiv</a:t>
            </a:r>
            <a:r>
              <a:rPr lang="en-GB"/>
              <a:t> (valoarea apare o singură dată în colecție), ceea ce permite evidențierea clară a diferenței dintre un query fără index și unul indexat.</a:t>
            </a:r>
          </a:p>
          <a:p>
            <a:r>
              <a:rPr lang="it-IT"/>
              <a:t>Partea relevanta: 10001 documente examinate, si COLLSCAN (scanare completa a colectiei) - au fost examinate 10001 documente pentru un singur rezultat</a:t>
            </a:r>
          </a:p>
          <a:p>
            <a:pPr marL="0" indent="0">
              <a:buNone/>
            </a:pPr>
            <a:r>
              <a:rPr lang="it-IT"/>
              <a:t>SE CREEAZA UN INDEX:</a:t>
            </a:r>
          </a:p>
          <a:p>
            <a:pPr marL="0" indent="0">
              <a:buNone/>
            </a:pPr>
            <a:r>
              <a:rPr lang="en-GB"/>
              <a:t>Acelasi QUERY AFTER INDEX:</a:t>
            </a:r>
          </a:p>
          <a:p>
            <a:r>
              <a:rPr lang="en-GB"/>
              <a:t>Partea relevanta: a fost examinat un singur document, numarul de documente scazand de la 10001 la 1; timpul de executie a fost redus semnificativ; IXSCAN folosit (scanare pe index)</a:t>
            </a:r>
          </a:p>
          <a:p>
            <a:r>
              <a:rPr lang="en-GB"/>
              <a:t>Indexarea câmpurilor </a:t>
            </a:r>
            <a:r>
              <a:rPr lang="en-GB" b="1"/>
              <a:t>selective </a:t>
            </a:r>
            <a:r>
              <a:rPr lang="en-GB"/>
              <a:t>îmbunătățește semnificativ performanța query-urilor în MongoDB. În acest caz, utilizarea unui index pe id_participant a eliminat scanarea completă a colecției și a redus drastic costul interogării.</a:t>
            </a: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57593-E224-4014-FDD6-75FD037C6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310" y="450374"/>
            <a:ext cx="3336575" cy="604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1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F407-B4CE-CE12-AEB1-291D10AC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REPLICATION – Scalare orizontala in MongoDB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4F861-7683-9922-FCAC-627499C23E15}"/>
              </a:ext>
            </a:extLst>
          </p:cNvPr>
          <p:cNvSpPr txBox="1"/>
          <p:nvPr/>
        </p:nvSpPr>
        <p:spPr>
          <a:xfrm>
            <a:off x="7602070" y="2301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2" tooltip="Share link"/>
              </a:rPr>
              <a:t>* </a:t>
            </a:r>
            <a:r>
              <a:rPr lang="ro-RO">
                <a:hlinkClick r:id="rId2" tooltip="Share link"/>
              </a:rPr>
              <a:t>LINK VIDEO: </a:t>
            </a:r>
            <a:r>
              <a:rPr lang="en-GB">
                <a:hlinkClick r:id="rId3"/>
              </a:rPr>
              <a:t>https://youtu.be/0FJN7k1NpP0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FF38F-9439-3EAC-DBD8-83972417D7C3}"/>
              </a:ext>
            </a:extLst>
          </p:cNvPr>
          <p:cNvSpPr txBox="1"/>
          <p:nvPr/>
        </p:nvSpPr>
        <p:spPr>
          <a:xfrm>
            <a:off x="1546710" y="1825625"/>
            <a:ext cx="91619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Am configurat un </a:t>
            </a:r>
            <a:r>
              <a:rPr lang="en-GB" b="1"/>
              <a:t>replica set MongoDB cu 3 noduri</a:t>
            </a:r>
            <a:r>
              <a:rPr lang="en-GB"/>
              <a:t> folosind Docker (mongo1, mongo2, mongo3).</a:t>
            </a:r>
          </a:p>
          <a:p>
            <a:endParaRPr lang="en-GB"/>
          </a:p>
          <a:p>
            <a:r>
              <a:rPr lang="en-GB"/>
              <a:t>Am initializat replica set-ul (rs0) si am verificat ca exista </a:t>
            </a:r>
            <a:r>
              <a:rPr lang="en-GB" b="1"/>
              <a:t>1 PRIMARY si 2 SECONDARY</a:t>
            </a:r>
            <a:r>
              <a:rPr lang="en-GB"/>
              <a:t>.</a:t>
            </a:r>
          </a:p>
          <a:p>
            <a:r>
              <a:rPr lang="en-GB"/>
              <a:t>Am inserat date pe nodul PRIMARY.</a:t>
            </a:r>
          </a:p>
          <a:p>
            <a:endParaRPr lang="en-GB"/>
          </a:p>
          <a:p>
            <a:r>
              <a:rPr lang="en-GB"/>
              <a:t>Am simulat </a:t>
            </a:r>
            <a:r>
              <a:rPr lang="en-GB" b="1"/>
              <a:t>caderea PRIMARY</a:t>
            </a:r>
            <a:r>
              <a:rPr lang="en-GB"/>
              <a:t> si am observat </a:t>
            </a:r>
            <a:r>
              <a:rPr lang="en-GB" b="1"/>
              <a:t>alegerea automata a unui nou PRIMARY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Am continuat scrierile dupa failover si am confirmat ca </a:t>
            </a:r>
            <a:r>
              <a:rPr lang="en-GB" b="1"/>
              <a:t>datele raman consistente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Nodul initial a revenit automat ca </a:t>
            </a:r>
            <a:r>
              <a:rPr lang="en-GB" b="1"/>
              <a:t>SECONDARY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 b="1"/>
              <a:t>Concluzie:</a:t>
            </a:r>
            <a:br>
              <a:rPr lang="en-GB"/>
            </a:br>
            <a:r>
              <a:rPr lang="en-GB"/>
              <a:t>Replica set asigura </a:t>
            </a:r>
            <a:r>
              <a:rPr lang="en-GB" b="1"/>
              <a:t>disponibilitate ridicata si toleranta la erori</a:t>
            </a:r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015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16AF-97F8-7F3E-46E8-3BFD6010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86B9-5222-6D95-87C9-25BA540C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SHARDING – Scalare orizontala in MongoDB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43071-17E9-DDCA-3CC2-739CA548FCF5}"/>
              </a:ext>
            </a:extLst>
          </p:cNvPr>
          <p:cNvSpPr txBox="1"/>
          <p:nvPr/>
        </p:nvSpPr>
        <p:spPr>
          <a:xfrm>
            <a:off x="7602070" y="230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>
                <a:hlinkClick r:id="rId2" tooltip="Share link"/>
              </a:rPr>
              <a:t>* LINK VIDEO: </a:t>
            </a:r>
            <a:r>
              <a:rPr lang="en-GB">
                <a:hlinkClick r:id="rId3" tooltip="Share link"/>
              </a:rPr>
              <a:t>https://youtu.be/96eSMxxUIoM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CB7A3-FD45-150A-C938-B732D7646401}"/>
              </a:ext>
            </a:extLst>
          </p:cNvPr>
          <p:cNvSpPr txBox="1"/>
          <p:nvPr/>
        </p:nvSpPr>
        <p:spPr>
          <a:xfrm>
            <a:off x="182880" y="1922780"/>
            <a:ext cx="7081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Am configurat un cluster MongoDB sharded (Docker)</a:t>
            </a:r>
          </a:p>
          <a:p>
            <a:r>
              <a:rPr lang="en-GB" sz="2400"/>
              <a:t>Am shard-uit colectia </a:t>
            </a:r>
            <a:r>
              <a:rPr lang="en-GB"/>
              <a:t>facturi</a:t>
            </a:r>
            <a:r>
              <a:rPr lang="en-GB" sz="2400"/>
              <a:t> pe </a:t>
            </a:r>
            <a:r>
              <a:rPr lang="en-GB"/>
              <a:t>id_eveniment (hashed)</a:t>
            </a:r>
            <a:endParaRPr lang="en-GB" sz="2400"/>
          </a:p>
          <a:p>
            <a:r>
              <a:rPr lang="en-GB" sz="2400"/>
              <a:t>Dataset: </a:t>
            </a:r>
            <a:r>
              <a:rPr lang="en-GB" sz="2400" b="1"/>
              <a:t>10.000 facturi</a:t>
            </a:r>
            <a:r>
              <a:rPr lang="en-GB" sz="2400"/>
              <a:t>, </a:t>
            </a:r>
            <a:r>
              <a:rPr lang="en-GB" sz="2400" b="1"/>
              <a:t>50 evenimente</a:t>
            </a:r>
          </a:p>
          <a:p>
            <a:endParaRPr lang="en-GB" sz="2400"/>
          </a:p>
          <a:p>
            <a:r>
              <a:rPr lang="en-GB" sz="2400" b="1"/>
              <a:t>Rezultat</a:t>
            </a:r>
            <a:endParaRPr lang="en-GB" sz="2400"/>
          </a:p>
          <a:p>
            <a:r>
              <a:rPr lang="en-GB" sz="2400"/>
              <a:t>Datele sunt distribuite pe mai multe shard-uri</a:t>
            </a:r>
          </a:p>
          <a:p>
            <a:r>
              <a:rPr lang="en-GB" sz="2400"/>
              <a:t>Interogari cu shard key → rapide (targeted)</a:t>
            </a:r>
          </a:p>
          <a:p>
            <a:r>
              <a:rPr lang="en-GB" sz="2400"/>
              <a:t>Interogari fara shard key → scanare pe toate shard-urile</a:t>
            </a:r>
          </a:p>
          <a:p>
            <a:endParaRPr lang="en-GB" sz="2400" b="1"/>
          </a:p>
          <a:p>
            <a:r>
              <a:rPr lang="en-GB" sz="2400" b="1"/>
              <a:t>Concluzie</a:t>
            </a:r>
            <a:endParaRPr lang="en-GB" sz="2400"/>
          </a:p>
          <a:p>
            <a:r>
              <a:rPr lang="en-GB" sz="2400"/>
              <a:t>Sharding permite scalare orizontala</a:t>
            </a:r>
          </a:p>
          <a:p>
            <a:r>
              <a:rPr lang="en-GB" sz="2400"/>
              <a:t>Performanta buna doar daca shard key este ales corect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D2425A-98F1-0605-F9CF-082179949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400" y="1577407"/>
            <a:ext cx="4549372" cy="47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3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04A4-184F-B21A-937C-33C0C2DD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Scaling, Design Pitfalls &amp; MongoDB Trade-offs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6D95E-CDF3-5464-8EFA-3E3C6D83F61D}"/>
              </a:ext>
            </a:extLst>
          </p:cNvPr>
          <p:cNvSpPr txBox="1"/>
          <p:nvPr/>
        </p:nvSpPr>
        <p:spPr>
          <a:xfrm>
            <a:off x="838200" y="1444466"/>
            <a:ext cx="504444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/>
              <a:t>Vertical vs Horizontal Scaling</a:t>
            </a:r>
            <a:endParaRPr lang="en-GB" sz="2000"/>
          </a:p>
          <a:p>
            <a:r>
              <a:rPr lang="en-GB" sz="2000" b="1"/>
              <a:t>- Vertical scaling</a:t>
            </a:r>
            <a:r>
              <a:rPr lang="en-GB" sz="2000"/>
              <a:t>: cresterea resurselor unui singur server (CPU, RAM)</a:t>
            </a:r>
          </a:p>
          <a:p>
            <a:pPr lvl="1"/>
            <a:r>
              <a:rPr lang="en-GB" sz="2000"/>
              <a:t>simplu, dar limitat</a:t>
            </a:r>
          </a:p>
          <a:p>
            <a:r>
              <a:rPr lang="en-GB" sz="2000" b="1"/>
              <a:t>- Horizontal scaling</a:t>
            </a:r>
            <a:r>
              <a:rPr lang="en-GB" sz="2000"/>
              <a:t>: adaugare de noduri</a:t>
            </a:r>
          </a:p>
          <a:p>
            <a:pPr lvl="1"/>
            <a:r>
              <a:rPr lang="en-GB" sz="2000"/>
              <a:t>realizat prin </a:t>
            </a:r>
            <a:r>
              <a:rPr lang="en-GB" sz="2000" b="1"/>
              <a:t>replication</a:t>
            </a:r>
            <a:r>
              <a:rPr lang="en-GB" sz="2000"/>
              <a:t> si </a:t>
            </a:r>
            <a:r>
              <a:rPr lang="en-GB" sz="2000" b="1"/>
              <a:t>sharding</a:t>
            </a:r>
            <a:endParaRPr lang="en-GB" sz="2000"/>
          </a:p>
          <a:p>
            <a:pPr lvl="1"/>
            <a:r>
              <a:rPr lang="en-GB" sz="2000"/>
              <a:t>ofera performanta si disponibilitate</a:t>
            </a:r>
          </a:p>
          <a:p>
            <a:pPr lvl="1"/>
            <a:endParaRPr lang="en-GB" sz="2000"/>
          </a:p>
          <a:p>
            <a:r>
              <a:rPr lang="en-GB" sz="2000" b="1"/>
              <a:t>Common Pitfalls</a:t>
            </a:r>
            <a:endParaRPr lang="en-GB" sz="2000"/>
          </a:p>
          <a:p>
            <a:r>
              <a:rPr lang="en-GB" sz="2000"/>
              <a:t>- over-embedding → documente mari, update-uri costisitoare</a:t>
            </a:r>
          </a:p>
          <a:p>
            <a:r>
              <a:rPr lang="en-GB" sz="2000"/>
              <a:t>- lipsa indexurilor → COLLSCAN, performanta slaba</a:t>
            </a:r>
          </a:p>
          <a:p>
            <a:r>
              <a:rPr lang="en-GB" sz="2000"/>
              <a:t>- shard key nepotrivit → dezechilibru intre shard-uri</a:t>
            </a:r>
          </a:p>
          <a:p>
            <a:r>
              <a:rPr lang="en-GB" sz="2000"/>
              <a:t>- many-to-many modelat incorect</a:t>
            </a:r>
          </a:p>
          <a:p>
            <a:pPr marL="285750" indent="-285750">
              <a:buFontTx/>
              <a:buChar char="-"/>
            </a:pPr>
            <a:r>
              <a:rPr lang="en-GB" sz="2000"/>
              <a:t>lipsa validarii datelor</a:t>
            </a:r>
          </a:p>
          <a:p>
            <a:pPr marL="285750" indent="-285750">
              <a:buFontTx/>
              <a:buChar char="-"/>
            </a:pPr>
            <a:endParaRPr lang="en-GB" sz="1600"/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B3786-A8FF-D8D3-A2B6-C94F7D2FAD97}"/>
              </a:ext>
            </a:extLst>
          </p:cNvPr>
          <p:cNvSpPr txBox="1"/>
          <p:nvPr/>
        </p:nvSpPr>
        <p:spPr>
          <a:xfrm>
            <a:off x="6421122" y="2188528"/>
            <a:ext cx="51511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Trade-offs NoSQL</a:t>
            </a:r>
            <a:endParaRPr lang="en-GB" sz="2000"/>
          </a:p>
          <a:p>
            <a:r>
              <a:rPr lang="en-GB" sz="2000"/>
              <a:t>embedding → read rapid, update costisitor</a:t>
            </a:r>
          </a:p>
          <a:p>
            <a:r>
              <a:rPr lang="en-GB" sz="2000"/>
              <a:t>referencing → consistenta mai buna, query-uri mai complexe</a:t>
            </a:r>
          </a:p>
          <a:p>
            <a:endParaRPr lang="en-GB" sz="2000"/>
          </a:p>
          <a:p>
            <a:r>
              <a:rPr lang="en-GB" sz="2000" b="1"/>
              <a:t>De ce MongoDB</a:t>
            </a:r>
            <a:endParaRPr lang="en-GB" sz="2000"/>
          </a:p>
          <a:p>
            <a:r>
              <a:rPr lang="en-GB" sz="2000"/>
              <a:t>- schema flexibila</a:t>
            </a:r>
          </a:p>
          <a:p>
            <a:r>
              <a:rPr lang="en-GB" sz="2000"/>
              <a:t>- aggregation pipeline</a:t>
            </a:r>
          </a:p>
          <a:p>
            <a:r>
              <a:rPr lang="en-GB" sz="2000"/>
              <a:t>- scalare orizontala eficienta</a:t>
            </a:r>
          </a:p>
          <a:p>
            <a:r>
              <a:rPr lang="en-GB" sz="2000"/>
              <a:t>- potrivit pentru date dinamice si volum mare</a:t>
            </a:r>
          </a:p>
        </p:txBody>
      </p:sp>
    </p:spTree>
    <p:extLst>
      <p:ext uri="{BB962C8B-B14F-4D97-AF65-F5344CB8AC3E}">
        <p14:creationId xmlns:p14="http://schemas.microsoft.com/office/powerpoint/2010/main" val="2391171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964</Words>
  <Application>Microsoft Office PowerPoint</Application>
  <PresentationFormat>Widescreen</PresentationFormat>
  <Paragraphs>128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Schema design strategies and scaling solution in MongoDB</vt:lpstr>
      <vt:lpstr>DOCUMENTAȚIE TEHNICĂ</vt:lpstr>
      <vt:lpstr>Modelarea datelor si organizarea colecțiilor</vt:lpstr>
      <vt:lpstr>Embedding vs Referencing</vt:lpstr>
      <vt:lpstr>Implementare operații CRUD</vt:lpstr>
      <vt:lpstr>Agregări   </vt:lpstr>
      <vt:lpstr>Indexing</vt:lpstr>
      <vt:lpstr>REPLICATION – Scalare orizontala in MongoDB</vt:lpstr>
      <vt:lpstr>SHARDING – Scalare orizontala in MongoDB</vt:lpstr>
      <vt:lpstr>Scaling, Design Pitfalls &amp; MongoDB Trade-offs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Ellis Arm</dc:creator>
  <cp:lastModifiedBy>Ellis Arm</cp:lastModifiedBy>
  <cp:revision>2</cp:revision>
  <dcterms:created xsi:type="dcterms:W3CDTF">2026-01-15T20:59:36Z</dcterms:created>
  <dcterms:modified xsi:type="dcterms:W3CDTF">2026-01-16T11:29:35Z</dcterms:modified>
</cp:coreProperties>
</file>